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  <p:embeddedFont>
      <p:font typeface="Maven Pro SemiBold"/>
      <p:regular r:id="rId26"/>
      <p:bold r:id="rId27"/>
    </p:embeddedFont>
    <p:embeddedFont>
      <p:font typeface="Maven Pro"/>
      <p:regular r:id="rId28"/>
      <p:bold r:id="rId29"/>
    </p:embeddedFont>
    <p:embeddedFont>
      <p:font typeface="Maven Pro ExtraBold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SemiBold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MavenPro-regular.fntdata"/><Relationship Id="rId27" Type="http://schemas.openxmlformats.org/officeDocument/2006/relationships/font" Target="fonts/MavenPro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avenPro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5f27ac89f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5f27ac89f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5f27ac89f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5f27ac89f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5f27ac89f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85f27ac89f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5f27ac89f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85f27ac89f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5f27ac89f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85f27ac89f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5f27ac89f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5f27ac89f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5f27ac89f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85f27ac89f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5f27ac89f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5f27ac89f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5f27ac89f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85f27ac89f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5f79cf1f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85f79cf1f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5f79cf1f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85f79cf1f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5f79cf1f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85f79cf1f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85f79cf1f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85f79cf1f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5f27ac89f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85f27ac89f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85f27ac89f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85f27ac89f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417200" y="1684275"/>
            <a:ext cx="4791600" cy="16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Olist E-Commerce Data Analysis 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2374450" y="3363375"/>
            <a:ext cx="3088500" cy="12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aven Pro SemiBold"/>
                <a:ea typeface="Maven Pro SemiBold"/>
                <a:cs typeface="Maven Pro SemiBold"/>
                <a:sym typeface="Maven Pro SemiBold"/>
              </a:rPr>
              <a:t>By - Yash Jagtap 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aven Pro SemiBold"/>
                <a:ea typeface="Maven Pro SemiBold"/>
                <a:cs typeface="Maven Pro SemiBold"/>
                <a:sym typeface="Maven Pro SemiBold"/>
              </a:rPr>
              <a:t>         Mrutyunjay Panda 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aven Pro SemiBold"/>
                <a:ea typeface="Maven Pro SemiBold"/>
                <a:cs typeface="Maven Pro SemiBold"/>
                <a:sym typeface="Maven Pro SemiBold"/>
              </a:rPr>
              <a:t>         Meghana Patil 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050" y="239575"/>
            <a:ext cx="17224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198125" y="1543050"/>
            <a:ext cx="7030500" cy="31941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 sz="1500">
                <a:solidFill>
                  <a:schemeClr val="lt1"/>
                </a:solidFill>
              </a:rPr>
              <a:t>Olist is a leading Brazil-based e-commerce company that connects small businesses to major online marketplaces.</a:t>
            </a:r>
            <a:endParaRPr b="1" sz="15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800">
                <a:solidFill>
                  <a:schemeClr val="lt1"/>
                </a:solidFill>
              </a:rPr>
              <a:t> </a:t>
            </a:r>
            <a:r>
              <a:rPr b="1" lang="en" sz="1500">
                <a:solidFill>
                  <a:schemeClr val="lt1"/>
                </a:solidFill>
              </a:rPr>
              <a:t>It helps sellers list products, manage logistics, and ensure smooth order fulfillment across Brazil.</a:t>
            </a:r>
            <a:endParaRPr b="1" sz="15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 sz="1500">
                <a:solidFill>
                  <a:schemeClr val="lt1"/>
                </a:solidFill>
              </a:rPr>
              <a:t>The dataset includes multiple years of data covering orders, customers, products, payments, and reviews.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" sz="1500">
                <a:solidFill>
                  <a:schemeClr val="lt1"/>
                </a:solidFill>
              </a:rPr>
              <a:t>The analysis aims to understand sales performance, delivery timelines, and customer satisfaction.</a:t>
            </a:r>
            <a:endParaRPr b="1" sz="1400">
              <a:solidFill>
                <a:schemeClr val="lt1"/>
              </a:solidFill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1198125" y="77720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Introduction 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286" name="Google Shape;2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3925" y="4185275"/>
            <a:ext cx="17224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198125" y="1543825"/>
            <a:ext cx="7030500" cy="26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18179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87042"/>
              <a:buFont typeface="Nunito"/>
              <a:buChar char="●"/>
            </a:pPr>
            <a:r>
              <a:rPr b="1" lang="en" sz="2315">
                <a:solidFill>
                  <a:schemeClr val="lt1"/>
                </a:solidFill>
              </a:rPr>
              <a:t>To analyze sales performance and customer behavior across regions.</a:t>
            </a:r>
            <a:endParaRPr b="1" sz="2315">
              <a:solidFill>
                <a:schemeClr val="lt1"/>
              </a:solidFill>
            </a:endParaRPr>
          </a:p>
          <a:p>
            <a:pPr indent="-31817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7042"/>
              <a:buFont typeface="Nunito"/>
              <a:buChar char="●"/>
            </a:pPr>
            <a:r>
              <a:rPr b="1" lang="en" sz="2315">
                <a:solidFill>
                  <a:schemeClr val="lt1"/>
                </a:solidFill>
              </a:rPr>
              <a:t>To evaluate delivery time, payment modes, and review patterns.</a:t>
            </a:r>
            <a:endParaRPr b="1" sz="2315">
              <a:solidFill>
                <a:schemeClr val="lt1"/>
              </a:solidFill>
            </a:endParaRPr>
          </a:p>
          <a:p>
            <a:pPr indent="-31817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7042"/>
              <a:buFont typeface="Nunito"/>
              <a:buChar char="●"/>
            </a:pPr>
            <a:r>
              <a:rPr b="1" lang="en" sz="2315">
                <a:solidFill>
                  <a:schemeClr val="lt1"/>
                </a:solidFill>
              </a:rPr>
              <a:t>To visualize KPIs using Excel, Power BI, Tableau &amp; SQL dashboards.</a:t>
            </a:r>
            <a:endParaRPr b="1" sz="2315">
              <a:solidFill>
                <a:schemeClr val="lt1"/>
              </a:solidFill>
            </a:endParaRPr>
          </a:p>
          <a:p>
            <a:pPr indent="-31817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7042"/>
              <a:buFont typeface="Nunito"/>
              <a:buChar char="●"/>
            </a:pPr>
            <a:r>
              <a:rPr b="1" lang="en" sz="2315">
                <a:solidFill>
                  <a:schemeClr val="lt1"/>
                </a:solidFill>
              </a:rPr>
              <a:t>To recommend data-driven strategies for Olist’s business growth.</a:t>
            </a:r>
            <a:endParaRPr b="1" sz="231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1198125" y="77720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Objectives</a:t>
            </a: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293" name="Google Shape;2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5650" y="4232150"/>
            <a:ext cx="17224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303800" y="1437350"/>
            <a:ext cx="1716600" cy="3090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1198125" y="77720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Tools Used</a:t>
            </a: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00" name="Google Shape;3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450" y="3908000"/>
            <a:ext cx="1152875" cy="6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5513" y="2520250"/>
            <a:ext cx="854750" cy="56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3500" y="3262400"/>
            <a:ext cx="1340775" cy="6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2500" y="1507825"/>
            <a:ext cx="1340775" cy="8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6"/>
          <p:cNvSpPr txBox="1"/>
          <p:nvPr/>
        </p:nvSpPr>
        <p:spPr>
          <a:xfrm>
            <a:off x="3114275" y="1437625"/>
            <a:ext cx="4468200" cy="30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Excel : Static KPI dashboard and   regional/product sales analysis</a:t>
            </a:r>
            <a:endParaRPr b="1"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PowerBI : Interactive, dynamic dashboard with DAX-based KPIs</a:t>
            </a:r>
            <a:endParaRPr b="1"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Tableau : Advanced visualization and drilldown storytelling</a:t>
            </a:r>
            <a:endParaRPr b="1"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MySQL : Used to extract, clean and analyze raw data through SQL queries.</a:t>
            </a:r>
            <a:endParaRPr b="1"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5" name="Google Shape;30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57533" y="4197025"/>
            <a:ext cx="1698792" cy="84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/>
          <p:nvPr/>
        </p:nvSpPr>
        <p:spPr>
          <a:xfrm>
            <a:off x="1200150" y="777200"/>
            <a:ext cx="64707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Methodology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3109275" y="1453525"/>
            <a:ext cx="2222700" cy="5637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95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Data Collection</a:t>
            </a:r>
            <a:r>
              <a:rPr b="1" lang="en" sz="1500"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3109275" y="2113225"/>
            <a:ext cx="2222700" cy="5637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Data Cleaning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3109275" y="2772925"/>
            <a:ext cx="2222700" cy="7047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Data Analysis using Excel and SQL</a:t>
            </a:r>
            <a:r>
              <a:rPr b="1" lang="en" sz="1500"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3109275" y="4374575"/>
            <a:ext cx="2222700" cy="7047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Insights and Conclusion 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3109275" y="3573750"/>
            <a:ext cx="2222700" cy="7047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aven Pro"/>
                <a:ea typeface="Maven Pro"/>
                <a:cs typeface="Maven Pro"/>
                <a:sym typeface="Maven Pro"/>
              </a:rPr>
              <a:t>Data Visualization using PowerBI and Tableau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6" name="Google Shape;3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3925" y="4185275"/>
            <a:ext cx="17224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/>
          <p:nvPr/>
        </p:nvSpPr>
        <p:spPr>
          <a:xfrm>
            <a:off x="1198125" y="77720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Key KPIs Measured</a:t>
            </a: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1198125" y="1459200"/>
            <a:ext cx="5919600" cy="35832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 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Maven Pro"/>
                <a:ea typeface="Maven Pro"/>
                <a:cs typeface="Maven Pro"/>
                <a:sym typeface="Maven Pro"/>
              </a:rPr>
              <a:t>Total Sales – 16..01M</a:t>
            </a:r>
            <a:endParaRPr b="1" sz="1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Maven Pro"/>
                <a:ea typeface="Maven Pro"/>
                <a:cs typeface="Maven Pro"/>
                <a:sym typeface="Maven Pro"/>
              </a:rPr>
              <a:t>Weekday Sales - $12.2M</a:t>
            </a:r>
            <a:endParaRPr b="1" sz="1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Maven Pro"/>
                <a:ea typeface="Maven Pro"/>
                <a:cs typeface="Maven Pro"/>
                <a:sym typeface="Maven Pro"/>
              </a:rPr>
              <a:t>Weekend Sales - $3.6M</a:t>
            </a:r>
            <a:endParaRPr b="1" sz="1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Maven Pro"/>
                <a:ea typeface="Maven Pro"/>
                <a:cs typeface="Maven Pro"/>
                <a:sym typeface="Maven Pro"/>
              </a:rPr>
              <a:t>Total Profit – 2.42M</a:t>
            </a:r>
            <a:endParaRPr b="1" sz="1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Maven Pro"/>
                <a:ea typeface="Maven Pro"/>
                <a:cs typeface="Maven Pro"/>
                <a:sym typeface="Maven Pro"/>
              </a:rPr>
              <a:t>Total Unique Customers –96.10K</a:t>
            </a:r>
            <a:endParaRPr b="1" sz="1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Maven Pro"/>
                <a:ea typeface="Maven Pro"/>
                <a:cs typeface="Maven Pro"/>
                <a:sym typeface="Maven Pro"/>
              </a:rPr>
              <a:t>Total Sellers – 3094</a:t>
            </a:r>
            <a:endParaRPr b="1" sz="1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Maven Pro"/>
                <a:ea typeface="Maven Pro"/>
                <a:cs typeface="Maven Pro"/>
                <a:sym typeface="Maven Pro"/>
              </a:rPr>
              <a:t>Unique Products – 71</a:t>
            </a:r>
            <a:endParaRPr b="1" sz="1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Maven Pro"/>
                <a:ea typeface="Maven Pro"/>
                <a:cs typeface="Maven Pro"/>
                <a:sym typeface="Maven Pro"/>
              </a:rPr>
              <a:t>Average Delivery Days to Sao Paulo – 23.70 Days</a:t>
            </a:r>
            <a:endParaRPr b="1" sz="1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Maven Pro"/>
                <a:ea typeface="Maven Pro"/>
                <a:cs typeface="Maven Pro"/>
                <a:sym typeface="Maven Pro"/>
              </a:rPr>
              <a:t>Average Sales (São Paulo) – 154.10</a:t>
            </a:r>
            <a:endParaRPr b="1" sz="1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Maven Pro"/>
                <a:ea typeface="Maven Pro"/>
                <a:cs typeface="Maven Pro"/>
                <a:sym typeface="Maven Pro"/>
              </a:rPr>
              <a:t>Review Score -  99224</a:t>
            </a:r>
            <a:endParaRPr b="1" sz="12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3" name="Google Shape;3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3925" y="4185275"/>
            <a:ext cx="17224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/>
          <p:nvPr/>
        </p:nvSpPr>
        <p:spPr>
          <a:xfrm>
            <a:off x="1193150" y="17695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Excel Dashboard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29" name="Google Shape;3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2075"/>
            <a:ext cx="9144002" cy="431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1167075" y="104500"/>
            <a:ext cx="7030500" cy="4791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Power BI Dashboard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36" name="Google Shape;3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6125"/>
            <a:ext cx="9144000" cy="445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"/>
          <p:cNvSpPr/>
          <p:nvPr/>
        </p:nvSpPr>
        <p:spPr>
          <a:xfrm>
            <a:off x="1229175" y="7345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Tableau </a:t>
            </a: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Dashboard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42" name="Google Shape;3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8225"/>
            <a:ext cx="9144000" cy="442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/>
          <p:nvPr/>
        </p:nvSpPr>
        <p:spPr>
          <a:xfrm>
            <a:off x="1260225" y="9415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SQL Queries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1260225" y="836675"/>
            <a:ext cx="6912600" cy="4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Create database Olist ;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use olist;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 1 - KPI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 Weekday Vs Weekend (order_purchase_timestamp) Payment Statistics.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select 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case when DAYOFWEEK(str_to_date(o.order_purchase_timestamp, '%Y-%m-%d')) IN (1, 7) THEN 'Weekend' Else 'Weekday' END AS DayType,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count(distinct o.order_id) AS TOTALOrders,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round(sum(p.payment_value)) AS TOTALPayments,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round(AVG(p.payment_value)) AS AveragePayment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From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orders o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Join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orderpayments p ON o.order_id=p.order_id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group by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DayType;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"/>
          <p:cNvSpPr/>
          <p:nvPr/>
        </p:nvSpPr>
        <p:spPr>
          <a:xfrm>
            <a:off x="1260225" y="9415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SQL Queries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1307025" y="1130597"/>
            <a:ext cx="6936900" cy="29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 2 - KPI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 Number of Orders with review score 5 and payment type as credit card.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SELECT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COUNT(DISTINCT p.order_id) AS NumberOforders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FROM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orderpayments p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JOIN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orderreviews r ON p.order_id = r.order_id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WHERE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r.review_score = 5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AND p.payment_type = 'credit_card';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/>
          <p:nvPr/>
        </p:nvSpPr>
        <p:spPr>
          <a:xfrm>
            <a:off x="1260225" y="9415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SQL Queries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1260225" y="954238"/>
            <a:ext cx="70305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#3rd--KPI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 Average number of days taken for order_delivered_customer_date for pet_shop.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SELECT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product_category_name,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round(AVG(datediff(Order_Delivered_Customer_Date, Order_Purchase_Timestamp))) AS avg_delivery_time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FROM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orders o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Join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  orderitems i ON i.order_id= o.order_id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Join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  products p ON p.product_id=i.product_id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Where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p.product_category_name='pet_shop'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AND o.order_Delivered_Customer_Date IS NOT NULL;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"/>
          <p:cNvSpPr/>
          <p:nvPr/>
        </p:nvSpPr>
        <p:spPr>
          <a:xfrm>
            <a:off x="1260225" y="9415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SQL Queries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66" name="Google Shape;366;p25"/>
          <p:cNvSpPr txBox="1"/>
          <p:nvPr/>
        </p:nvSpPr>
        <p:spPr>
          <a:xfrm>
            <a:off x="1260225" y="944449"/>
            <a:ext cx="70305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#4th-- KPI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 Average price and payment values from customers of sao paulo city.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With orderItemsAvg AS(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Select round(AVG(i.price)) AS avg_order_item_price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from orderitems i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join orders o ON i.order_id = o.order_id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join customers c ON o.customer_id = c.customer_id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where c.customer_city = "sao paulo"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select 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(select avg_order_item_price from orderItemsAvg) AS avg_order_item_price,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round(AVG(p.payment_value)) AS avg_payment_value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from orderpayments p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join orders o ON p.order_id = o.order_id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join customers c ON o.customer_id = c.customer_id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where c.customer_city = "sao paulo";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/>
          <p:nvPr/>
        </p:nvSpPr>
        <p:spPr>
          <a:xfrm>
            <a:off x="1260225" y="94150"/>
            <a:ext cx="7030500" cy="5637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SQL Queries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1260225" y="885661"/>
            <a:ext cx="70305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#5th-- KPI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#Relationship between shipping days (order_delivered_customer_date - order_purchase_timestamp) Vs review scores.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SELECT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round(AVG(DATEDIFF(Order_Delivered_customer_Date, Order_Purchase_Timestamp)),0) AS AvgShippingDays,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Review_score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From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orders o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JOIN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orderreviews r ON o.Order_id = r.Order_id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Where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Order_delivered_Customer_Date IS NOT NULL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AND Order_Purchase_Timestamp IS NOT NULL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GROUP BY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	Review_score;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>
            <p:ph idx="1" type="body"/>
          </p:nvPr>
        </p:nvSpPr>
        <p:spPr>
          <a:xfrm>
            <a:off x="1198125" y="1610503"/>
            <a:ext cx="7030500" cy="30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0204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85"/>
              <a:buChar char="●"/>
            </a:pPr>
            <a:r>
              <a:rPr b="1" lang="en" sz="1285">
                <a:solidFill>
                  <a:schemeClr val="lt1"/>
                </a:solidFill>
              </a:rPr>
              <a:t>Sales Performance: Highest in the Southeast Region — focus marketing there.</a:t>
            </a:r>
            <a:endParaRPr b="1" sz="1285">
              <a:solidFill>
                <a:schemeClr val="lt1"/>
              </a:solidFill>
            </a:endParaRPr>
          </a:p>
          <a:p>
            <a:pPr indent="-31020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5"/>
              <a:buChar char="●"/>
            </a:pPr>
            <a:r>
              <a:rPr b="1" lang="en" sz="1285">
                <a:solidFill>
                  <a:schemeClr val="lt1"/>
                </a:solidFill>
              </a:rPr>
              <a:t>Product Performance: Top products drive major sales; low-selling items need discount or promotion.</a:t>
            </a:r>
            <a:endParaRPr b="1" sz="1285">
              <a:solidFill>
                <a:schemeClr val="lt1"/>
              </a:solidFill>
            </a:endParaRPr>
          </a:p>
          <a:p>
            <a:pPr indent="-31020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5"/>
              <a:buChar char="●"/>
            </a:pPr>
            <a:r>
              <a:rPr b="1" lang="en" sz="1285">
                <a:solidFill>
                  <a:schemeClr val="lt1"/>
                </a:solidFill>
              </a:rPr>
              <a:t>Delivery Insights: Average delivery ≈ 11 days; logistics optimization can reduce delays.</a:t>
            </a:r>
            <a:endParaRPr b="1" sz="1285">
              <a:solidFill>
                <a:schemeClr val="lt1"/>
              </a:solidFill>
            </a:endParaRPr>
          </a:p>
          <a:p>
            <a:pPr indent="-31020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5"/>
              <a:buChar char="●"/>
            </a:pPr>
            <a:r>
              <a:rPr b="1" lang="en" sz="1285">
                <a:solidFill>
                  <a:schemeClr val="lt1"/>
                </a:solidFill>
              </a:rPr>
              <a:t>Payment Insights: Credit Card is most preferred mode; introduce reward offers.</a:t>
            </a:r>
            <a:endParaRPr b="1" sz="1285">
              <a:solidFill>
                <a:schemeClr val="lt1"/>
              </a:solidFill>
            </a:endParaRPr>
          </a:p>
          <a:p>
            <a:pPr indent="-31020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5"/>
              <a:buChar char="●"/>
            </a:pPr>
            <a:r>
              <a:rPr b="1" lang="en" sz="1285">
                <a:solidFill>
                  <a:schemeClr val="lt1"/>
                </a:solidFill>
              </a:rPr>
              <a:t>Customer Experience: Faster delivery improves review scores — prioritize timely shipments.</a:t>
            </a:r>
            <a:endParaRPr b="1" sz="1285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690">
                <a:solidFill>
                  <a:schemeClr val="lt1"/>
                </a:solidFill>
              </a:rPr>
              <a:t> </a:t>
            </a:r>
            <a:r>
              <a:rPr b="1" lang="en" sz="1285">
                <a:solidFill>
                  <a:schemeClr val="lt1"/>
                </a:solidFill>
              </a:rPr>
              <a:t>Growth Plan: Expand inventory in high-demand regions and run targeted ads for low-sales zones.</a:t>
            </a:r>
            <a:endParaRPr b="1" sz="1285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105"/>
          </a:p>
        </p:txBody>
      </p:sp>
      <p:sp>
        <p:nvSpPr>
          <p:cNvPr id="378" name="Google Shape;378;p27"/>
          <p:cNvSpPr/>
          <p:nvPr/>
        </p:nvSpPr>
        <p:spPr>
          <a:xfrm>
            <a:off x="1198125" y="777200"/>
            <a:ext cx="7030500" cy="6966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Key Insights &amp; Business Recommendations</a:t>
            </a:r>
            <a:r>
              <a:rPr b="1" lang="en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79" name="Google Shape;3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3925" y="4345925"/>
            <a:ext cx="1722400" cy="6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8"/>
          <p:cNvSpPr/>
          <p:nvPr/>
        </p:nvSpPr>
        <p:spPr>
          <a:xfrm>
            <a:off x="1668275" y="1173575"/>
            <a:ext cx="5868000" cy="21939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85788" rotWithShape="0" algn="bl" dir="6600000" dist="85725">
              <a:srgbClr val="000000"/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latin typeface="Maven Pro ExtraBold"/>
                <a:ea typeface="Maven Pro ExtraBold"/>
                <a:cs typeface="Maven Pro ExtraBold"/>
                <a:sym typeface="Maven Pro ExtraBold"/>
              </a:rPr>
              <a:t>THANK YOU </a:t>
            </a:r>
            <a:endParaRPr sz="6700">
              <a:latin typeface="Maven Pro ExtraBold"/>
              <a:ea typeface="Maven Pro ExtraBold"/>
              <a:cs typeface="Maven Pro ExtraBold"/>
              <a:sym typeface="Maven Pro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